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Distillery Strong" charset="1" panose="00000000000000000000"/>
      <p:regular r:id="rId13"/>
    </p:embeddedFont>
    <p:embeddedFont>
      <p:font typeface="Montserrat Bold" charset="1" panose="00000800000000000000"/>
      <p:regular r:id="rId14"/>
    </p:embeddedFont>
    <p:embeddedFont>
      <p:font typeface="Cooper Hewitt Heavy Italics" charset="1" panose="00000000000000000000"/>
      <p:regular r:id="rId15"/>
    </p:embeddedFont>
    <p:embeddedFont>
      <p:font typeface="League Spartan" charset="1" panose="00000800000000000000"/>
      <p:regular r:id="rId16"/>
    </p:embeddedFont>
    <p:embeddedFont>
      <p:font typeface="Roboto Bold" charset="1" panose="02000000000000000000"/>
      <p:regular r:id="rId17"/>
    </p:embeddedFont>
    <p:embeddedFont>
      <p:font typeface="Roboto" charset="1" panose="02000000000000000000"/>
      <p:regular r:id="rId18"/>
    </p:embeddedFont>
    <p:embeddedFont>
      <p:font typeface="Racing Sans One" charset="1" panose="02000000000000000000"/>
      <p:regular r:id="rId19"/>
    </p:embeddedFont>
    <p:embeddedFont>
      <p:font typeface="Moontime" charset="1" panose="00000000000000000000"/>
      <p:regular r:id="rId20"/>
    </p:embeddedFont>
    <p:embeddedFont>
      <p:font typeface="Playlist Script" charset="1" panose="00000000000000000000"/>
      <p:regular r:id="rId21"/>
    </p:embeddedFont>
    <p:embeddedFont>
      <p:font typeface="The Seasons" charset="1" panose="00000000000000000000"/>
      <p:regular r:id="rId22"/>
    </p:embeddedFont>
    <p:embeddedFont>
      <p:font typeface="Selima" charset="1" panose="02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777358" y="-4223642"/>
            <a:ext cx="10659837" cy="18361446"/>
          </a:xfrm>
          <a:custGeom>
            <a:avLst/>
            <a:gdLst/>
            <a:ahLst/>
            <a:cxnLst/>
            <a:rect r="r" b="b" t="t" l="l"/>
            <a:pathLst>
              <a:path h="18361446" w="10659837">
                <a:moveTo>
                  <a:pt x="0" y="0"/>
                </a:moveTo>
                <a:lnTo>
                  <a:pt x="10659838" y="0"/>
                </a:lnTo>
                <a:lnTo>
                  <a:pt x="10659838" y="18361446"/>
                </a:lnTo>
                <a:lnTo>
                  <a:pt x="0" y="1836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26" t="-2170" r="0" b="-670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43746" y="1723190"/>
            <a:ext cx="16517361" cy="546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48"/>
              </a:lnSpc>
            </a:pPr>
            <a:r>
              <a:rPr lang="en-US" sz="24173">
                <a:solidFill>
                  <a:srgbClr val="000000"/>
                </a:solidFill>
                <a:latin typeface="Distillery Strong"/>
                <a:ea typeface="Distillery Strong"/>
                <a:cs typeface="Distillery Strong"/>
                <a:sym typeface="Distillery Strong"/>
              </a:rPr>
              <a:t>LECTURIFY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42940" y="9413472"/>
            <a:ext cx="7952506" cy="281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1"/>
              </a:lnSpc>
            </a:pPr>
            <a:r>
              <a:rPr lang="en-US" b="true" sz="1829" spc="23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&lt;/&gt; BUILT BY FRESHERS AT IGDTUW |CODEBUILD 1.0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87358" y="5133975"/>
            <a:ext cx="9230137" cy="3307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5"/>
              </a:lnSpc>
            </a:pPr>
            <a:r>
              <a:rPr lang="en-US" b="true" sz="4332" spc="56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ELIMINATING CAMPUS COMMUNICATION CHAOS USING LIGHTWEIGHT, TAMPER-PROOF WEB3 SIMULATION.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34286"/>
            <a:ext cx="18840322" cy="10821286"/>
          </a:xfrm>
          <a:custGeom>
            <a:avLst/>
            <a:gdLst/>
            <a:ahLst/>
            <a:cxnLst/>
            <a:rect r="r" b="b" t="t" l="l"/>
            <a:pathLst>
              <a:path h="10821286" w="18840322">
                <a:moveTo>
                  <a:pt x="0" y="0"/>
                </a:moveTo>
                <a:lnTo>
                  <a:pt x="18840322" y="0"/>
                </a:lnTo>
                <a:lnTo>
                  <a:pt x="18840322" y="10821286"/>
                </a:lnTo>
                <a:lnTo>
                  <a:pt x="0" y="108212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7" t="0" r="-617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1005" y="2447624"/>
            <a:ext cx="306283" cy="30628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90500" y="180975"/>
              <a:ext cx="4318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41005" y="528813"/>
            <a:ext cx="11342034" cy="139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3"/>
              </a:lnSpc>
            </a:pPr>
            <a:r>
              <a:rPr lang="en-US" b="true" sz="9791" i="true" spc="734">
                <a:solidFill>
                  <a:srgbClr val="FF3131"/>
                </a:solidFill>
                <a:latin typeface="Cooper Hewitt Heavy Italics"/>
                <a:ea typeface="Cooper Hewitt Heavy Italics"/>
                <a:cs typeface="Cooper Hewitt Heavy Italics"/>
                <a:sym typeface="Cooper Hewitt Heavy Italics"/>
              </a:rPr>
              <a:t>THE PROBLEM:-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2447624"/>
            <a:ext cx="12020910" cy="1412413"/>
            <a:chOff x="0" y="0"/>
            <a:chExt cx="16027880" cy="1883218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16027880" cy="599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5"/>
                </a:lnSpc>
              </a:pPr>
              <a:r>
                <a:rPr lang="en-US" sz="2916" spc="29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COMMUNICATION CHAOS :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862726"/>
              <a:ext cx="15859319" cy="1020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6"/>
                </a:lnSpc>
              </a:pPr>
              <a:r>
                <a:rPr lang="en-US" b="true" sz="2429" spc="242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CRITICAL NOTICES ARE SCATTERED ACROSS NOISY WHATSAPP GROUPS, EMAILS AND INFORMAL CHATS.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87735" y="5192829"/>
            <a:ext cx="13417570" cy="1648120"/>
            <a:chOff x="0" y="0"/>
            <a:chExt cx="17890093" cy="219749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9050"/>
              <a:ext cx="10858507" cy="683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00"/>
                </a:lnSpc>
              </a:pPr>
              <a:r>
                <a:rPr lang="en-US" sz="3280" spc="328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THE SPAM AND BURIAL EFFECT :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239147"/>
              <a:ext cx="17890093" cy="9583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5"/>
                </a:lnSpc>
              </a:pPr>
              <a:r>
                <a:rPr lang="en-US" b="true" sz="2300" spc="230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CRUCIAL ADMINISTRATIVE UPDATES GET BURIED UNDER HUNDREDS OF CASUAL TEXTS , MEMES AND STUDENT CHATTER.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7849498"/>
            <a:ext cx="12063877" cy="1869845"/>
            <a:chOff x="0" y="0"/>
            <a:chExt cx="16085170" cy="2493126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9050"/>
              <a:ext cx="14491301" cy="646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76"/>
                </a:lnSpc>
              </a:pPr>
              <a:r>
                <a:rPr lang="en-US" sz="3101" spc="31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THE FORGERY AND PRANK RISK :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944284"/>
              <a:ext cx="16085170" cy="154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00"/>
                </a:lnSpc>
              </a:pPr>
              <a:r>
                <a:rPr lang="en-US" sz="2480" spc="248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STANDARD CHAT NETWORKS HAVE ZERO AUTHENTICATION, ALLOWING ANYONE TO FAKE A SCHEDULE CHANGE AND CAUSE MASS TRAVEL CONFUSION.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41005" y="5148660"/>
            <a:ext cx="306283" cy="30628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90500" y="180975"/>
              <a:ext cx="4318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41005" y="7849696"/>
            <a:ext cx="306283" cy="306283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90500" y="180975"/>
              <a:ext cx="4318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1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5931" y="0"/>
            <a:ext cx="6746250" cy="10287000"/>
          </a:xfrm>
          <a:custGeom>
            <a:avLst/>
            <a:gdLst/>
            <a:ahLst/>
            <a:cxnLst/>
            <a:rect r="r" b="b" t="t" l="l"/>
            <a:pathLst>
              <a:path h="10287000" w="6746250">
                <a:moveTo>
                  <a:pt x="0" y="0"/>
                </a:moveTo>
                <a:lnTo>
                  <a:pt x="6746250" y="0"/>
                </a:lnTo>
                <a:lnTo>
                  <a:pt x="6746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604" t="-1678" r="0" b="-167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22846" y="-69247"/>
            <a:ext cx="6448474" cy="10425494"/>
          </a:xfrm>
          <a:custGeom>
            <a:avLst/>
            <a:gdLst/>
            <a:ahLst/>
            <a:cxnLst/>
            <a:rect r="r" b="b" t="t" l="l"/>
            <a:pathLst>
              <a:path h="10425494" w="6448474">
                <a:moveTo>
                  <a:pt x="0" y="0"/>
                </a:moveTo>
                <a:lnTo>
                  <a:pt x="6448474" y="0"/>
                </a:lnTo>
                <a:lnTo>
                  <a:pt x="6448474" y="10425494"/>
                </a:lnTo>
                <a:lnTo>
                  <a:pt x="0" y="104254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132" t="-121" r="-2736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63361" y="-131407"/>
            <a:ext cx="6469134" cy="10487654"/>
          </a:xfrm>
          <a:custGeom>
            <a:avLst/>
            <a:gdLst/>
            <a:ahLst/>
            <a:cxnLst/>
            <a:rect r="r" b="b" t="t" l="l"/>
            <a:pathLst>
              <a:path h="10487654" w="6469134">
                <a:moveTo>
                  <a:pt x="0" y="0"/>
                </a:moveTo>
                <a:lnTo>
                  <a:pt x="6469135" y="0"/>
                </a:lnTo>
                <a:lnTo>
                  <a:pt x="6469135" y="10487654"/>
                </a:lnTo>
                <a:lnTo>
                  <a:pt x="0" y="10487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386" t="0" r="-373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7170" y="1959602"/>
            <a:ext cx="5238138" cy="2600251"/>
          </a:xfrm>
          <a:custGeom>
            <a:avLst/>
            <a:gdLst/>
            <a:ahLst/>
            <a:cxnLst/>
            <a:rect r="r" b="b" t="t" l="l"/>
            <a:pathLst>
              <a:path h="2600251" w="5238138">
                <a:moveTo>
                  <a:pt x="0" y="0"/>
                </a:moveTo>
                <a:lnTo>
                  <a:pt x="5238138" y="0"/>
                </a:lnTo>
                <a:lnTo>
                  <a:pt x="5238138" y="2600251"/>
                </a:lnTo>
                <a:lnTo>
                  <a:pt x="0" y="2600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0056" r="-801" b="-2005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22846" y="1888864"/>
            <a:ext cx="5340194" cy="2670989"/>
          </a:xfrm>
          <a:custGeom>
            <a:avLst/>
            <a:gdLst/>
            <a:ahLst/>
            <a:cxnLst/>
            <a:rect r="r" b="b" t="t" l="l"/>
            <a:pathLst>
              <a:path h="2670989" w="5340194">
                <a:moveTo>
                  <a:pt x="0" y="0"/>
                </a:moveTo>
                <a:lnTo>
                  <a:pt x="5340194" y="0"/>
                </a:lnTo>
                <a:lnTo>
                  <a:pt x="5340194" y="2670989"/>
                </a:lnTo>
                <a:lnTo>
                  <a:pt x="0" y="2670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181" t="-28068" r="0" b="-2806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2363361" y="1856863"/>
            <a:ext cx="5480043" cy="2702990"/>
          </a:xfrm>
          <a:custGeom>
            <a:avLst/>
            <a:gdLst/>
            <a:ahLst/>
            <a:cxnLst/>
            <a:rect r="r" b="b" t="t" l="l"/>
            <a:pathLst>
              <a:path h="2702990" w="5480043">
                <a:moveTo>
                  <a:pt x="0" y="0"/>
                </a:moveTo>
                <a:lnTo>
                  <a:pt x="5480044" y="0"/>
                </a:lnTo>
                <a:lnTo>
                  <a:pt x="5480044" y="2702990"/>
                </a:lnTo>
                <a:lnTo>
                  <a:pt x="0" y="2702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2806" r="-3774" b="-1236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03741" y="55040"/>
            <a:ext cx="8953156" cy="97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4"/>
              </a:lnSpc>
            </a:pPr>
            <a:r>
              <a:rPr lang="en-US" sz="7264">
                <a:solidFill>
                  <a:srgbClr val="000000"/>
                </a:solidFill>
                <a:latin typeface="Racing Sans One"/>
                <a:ea typeface="Racing Sans One"/>
                <a:cs typeface="Racing Sans One"/>
                <a:sym typeface="Racing Sans One"/>
              </a:rPr>
              <a:t>T</a:t>
            </a:r>
            <a:r>
              <a:rPr lang="en-US" sz="7264">
                <a:solidFill>
                  <a:srgbClr val="000000"/>
                </a:solidFill>
                <a:latin typeface="Racing Sans One"/>
                <a:ea typeface="Racing Sans One"/>
                <a:cs typeface="Racing Sans One"/>
                <a:sym typeface="Racing Sans One"/>
              </a:rPr>
              <a:t>HE SOLUTION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48970" y="85622"/>
            <a:ext cx="8628783" cy="94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1"/>
              </a:lnSpc>
            </a:pPr>
            <a:r>
              <a:rPr lang="en-US" sz="7001">
                <a:solidFill>
                  <a:srgbClr val="000000"/>
                </a:solidFill>
                <a:latin typeface="Racing Sans One"/>
                <a:ea typeface="Racing Sans One"/>
                <a:cs typeface="Racing Sans One"/>
                <a:sym typeface="Racing Sans One"/>
              </a:rPr>
              <a:t>LECTURIFY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97" y="1577038"/>
            <a:ext cx="5186183" cy="2420860"/>
            <a:chOff x="0" y="0"/>
            <a:chExt cx="6914911" cy="322781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522950" y="-19050"/>
              <a:ext cx="6391961" cy="4457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5"/>
                </a:lnSpc>
              </a:pPr>
              <a:r>
                <a:rPr lang="en-US" sz="2108" spc="21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AUTHORIZED BROADCASTS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486566"/>
              <a:ext cx="6715263" cy="1741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09"/>
                </a:lnSpc>
              </a:pPr>
              <a:r>
                <a:rPr lang="en-US" b="true" sz="2087" spc="208">
                  <a:solidFill>
                    <a:srgbClr val="D5158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ONLY VERIFIED FACULTY AND CLASS REPRESENTATIVES (CRS) POSSESS THE DIGITAL ACCESS KEYS TO MODIFY SCHEDULES.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166088" y="1447708"/>
            <a:ext cx="5428271" cy="2683706"/>
            <a:chOff x="0" y="0"/>
            <a:chExt cx="7237695" cy="357827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541050" y="-19050"/>
              <a:ext cx="6696645" cy="45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1"/>
                </a:lnSpc>
              </a:pPr>
              <a:r>
                <a:rPr lang="en-US" sz="2169" spc="21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TAMPER-PROOF AND SECURE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465206"/>
              <a:ext cx="6731461" cy="21130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1"/>
                </a:lnSpc>
              </a:pPr>
              <a:r>
                <a:rPr lang="en-US" b="true" sz="2016" spc="201">
                  <a:solidFill>
                    <a:srgbClr val="D5158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EVERY SCHEDULE CHANGE GENERATES AN UNCHANGEABLE CRYPTOGRAPHIC HASH RECEIPT LIVE ON THE DASHBOARD TO PROVE IT IS 100% OFFICIAL.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418396" y="1431704"/>
            <a:ext cx="5254038" cy="2593536"/>
            <a:chOff x="0" y="0"/>
            <a:chExt cx="7005384" cy="3458048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553546" y="-9525"/>
              <a:ext cx="5898293" cy="486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3"/>
                </a:lnSpc>
              </a:pPr>
              <a:r>
                <a:rPr lang="en-US" sz="2354" spc="235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INSTANT VISUAL ALERTS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269679"/>
              <a:ext cx="7005384" cy="2188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3"/>
                </a:lnSpc>
              </a:pPr>
              <a:r>
                <a:rPr lang="en-US" b="true" sz="2098" spc="209">
                  <a:solidFill>
                    <a:srgbClr val="D5158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THE MOMENT A CHANGE OCCURS, THE DASHBOARD UPDATES DYNAMICALLY, HIGHLIGHTING ALTERED SLOTS IN BRIGHT RED TO SAVE TRAVEL TIME.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509" r="-3254" b="-13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46286" y="4553426"/>
            <a:ext cx="10130693" cy="79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8385">
                <a:solidFill>
                  <a:srgbClr val="000000"/>
                </a:solidFill>
                <a:latin typeface="Moontime"/>
                <a:ea typeface="Moontime"/>
                <a:cs typeface="Moontime"/>
                <a:sym typeface="Moontime"/>
              </a:rPr>
              <a:t>key features and workflow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8909" y="358971"/>
            <a:ext cx="3370003" cy="1348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4"/>
              </a:lnSpc>
            </a:pPr>
            <a:r>
              <a:rPr lang="en-US" sz="4569">
                <a:solidFill>
                  <a:srgbClr val="000000"/>
                </a:solidFill>
                <a:latin typeface="Playlist Script"/>
                <a:ea typeface="Playlist Script"/>
                <a:cs typeface="Playlist Script"/>
                <a:sym typeface="Playlist Script"/>
              </a:rPr>
              <a:t>1. Role-based Authentication: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7859" y="1819322"/>
            <a:ext cx="3808427" cy="159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b="true" sz="2541" spc="25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FACULTY OR CR LOGS INTO THE VERIFIED ADMINISTRATIVE PORTAL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84442" y="638388"/>
            <a:ext cx="4403558" cy="79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1"/>
              </a:lnSpc>
            </a:pPr>
            <a:r>
              <a:rPr lang="en-US" sz="5392">
                <a:solidFill>
                  <a:srgbClr val="000000"/>
                </a:solidFill>
                <a:latin typeface="Playlist Script"/>
                <a:ea typeface="Playlist Script"/>
                <a:cs typeface="Playlist Script"/>
                <a:sym typeface="Playlist Script"/>
              </a:rPr>
              <a:t>2. Action trigger: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00685" y="1809797"/>
            <a:ext cx="4301045" cy="147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b="true" sz="2338" spc="23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THE AUTHORIZED USER CLICKS THE DESIGNATED "CANCEL CLASS" OR "RESCHEDULE" BUTTON.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983" y="6157253"/>
            <a:ext cx="3014929" cy="1158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7"/>
              </a:lnSpc>
            </a:pPr>
            <a:r>
              <a:rPr lang="en-US" sz="3928">
                <a:solidFill>
                  <a:srgbClr val="000000"/>
                </a:solidFill>
                <a:latin typeface="Playlist Script"/>
                <a:ea typeface="Playlist Script"/>
                <a:cs typeface="Playlist Script"/>
                <a:sym typeface="Playlist Script"/>
              </a:rPr>
              <a:t>3.CryptographicVerification: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409677"/>
            <a:ext cx="4297042" cy="1706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b="true" sz="2176" spc="217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BACKEND PYTHON SCRIPT UPDATES THE STATE VARIABLES AND GENERATES A UNIQUE VALIDATION HASH.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38803" y="6162230"/>
            <a:ext cx="4149197" cy="1375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2"/>
              </a:lnSpc>
            </a:pPr>
            <a:r>
              <a:rPr lang="en-US" sz="4689">
                <a:solidFill>
                  <a:srgbClr val="000000"/>
                </a:solidFill>
                <a:latin typeface="Playlist Script"/>
                <a:ea typeface="Playlist Script"/>
                <a:cs typeface="Playlist Script"/>
                <a:sym typeface="Playlist Script"/>
              </a:rPr>
              <a:t>4.Real-time UI Broadcast: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49429" y="7592098"/>
            <a:ext cx="4403558" cy="166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b="true" sz="2124" spc="21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THE STUDENT DASHBOARD DYNAMICALLY SWITCHES TO AN ACTIVE ALERT STATE, FLASHING RED FOR INSTANT VISIBILITY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24877" y="-4018443"/>
            <a:ext cx="10315690" cy="18365443"/>
          </a:xfrm>
          <a:custGeom>
            <a:avLst/>
            <a:gdLst/>
            <a:ahLst/>
            <a:cxnLst/>
            <a:rect r="r" b="b" t="t" l="l"/>
            <a:pathLst>
              <a:path h="18365443" w="10315690">
                <a:moveTo>
                  <a:pt x="0" y="0"/>
                </a:moveTo>
                <a:lnTo>
                  <a:pt x="10315689" y="0"/>
                </a:lnTo>
                <a:lnTo>
                  <a:pt x="10315689" y="18365443"/>
                </a:lnTo>
                <a:lnTo>
                  <a:pt x="0" y="18365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" t="-110" r="-19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03397" y="2094112"/>
            <a:ext cx="6243155" cy="5474078"/>
          </a:xfrm>
          <a:custGeom>
            <a:avLst/>
            <a:gdLst/>
            <a:ahLst/>
            <a:cxnLst/>
            <a:rect r="r" b="b" t="t" l="l"/>
            <a:pathLst>
              <a:path h="5474078" w="6243155">
                <a:moveTo>
                  <a:pt x="0" y="0"/>
                </a:moveTo>
                <a:lnTo>
                  <a:pt x="6243155" y="0"/>
                </a:lnTo>
                <a:lnTo>
                  <a:pt x="6243155" y="5474078"/>
                </a:lnTo>
                <a:lnTo>
                  <a:pt x="0" y="54740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497" t="0" r="-1527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55556" y="2254133"/>
            <a:ext cx="6085686" cy="5117604"/>
          </a:xfrm>
          <a:custGeom>
            <a:avLst/>
            <a:gdLst/>
            <a:ahLst/>
            <a:cxnLst/>
            <a:rect r="r" b="b" t="t" l="l"/>
            <a:pathLst>
              <a:path h="5117604" w="6085686">
                <a:moveTo>
                  <a:pt x="0" y="0"/>
                </a:moveTo>
                <a:lnTo>
                  <a:pt x="6085687" y="0"/>
                </a:lnTo>
                <a:lnTo>
                  <a:pt x="6085687" y="5117604"/>
                </a:lnTo>
                <a:lnTo>
                  <a:pt x="0" y="5117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99" t="-3743" r="-17299" b="-696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83180" y="2635134"/>
            <a:ext cx="7226414" cy="154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7"/>
              </a:lnSpc>
              <a:spcBef>
                <a:spcPct val="0"/>
              </a:spcBef>
            </a:pPr>
            <a:r>
              <a:rPr lang="en-US" sz="4298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DESIGN AND FRONTEND EXECUTION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90342" y="2491015"/>
            <a:ext cx="8016116" cy="1688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0"/>
              </a:lnSpc>
              <a:spcBef>
                <a:spcPct val="0"/>
              </a:spcBef>
            </a:pPr>
            <a:r>
              <a:rPr lang="en-US" sz="4679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BACKEND LOGIC AND SECURITY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503397" y="4206849"/>
            <a:ext cx="6286945" cy="416346"/>
          </a:xfrm>
          <a:custGeom>
            <a:avLst/>
            <a:gdLst/>
            <a:ahLst/>
            <a:cxnLst/>
            <a:rect r="r" b="b" t="t" l="l"/>
            <a:pathLst>
              <a:path h="416346" w="6286945">
                <a:moveTo>
                  <a:pt x="0" y="0"/>
                </a:moveTo>
                <a:lnTo>
                  <a:pt x="6286945" y="0"/>
                </a:lnTo>
                <a:lnTo>
                  <a:pt x="6286945" y="416347"/>
                </a:lnTo>
                <a:lnTo>
                  <a:pt x="0" y="4163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030" t="-343911" r="-19030" b="-19194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75711" y="413427"/>
            <a:ext cx="10214092" cy="1840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31"/>
              </a:lnSpc>
            </a:pPr>
            <a:r>
              <a:rPr lang="en-US" sz="12375">
                <a:solidFill>
                  <a:srgbClr val="000000"/>
                </a:solidFill>
                <a:latin typeface="Playlist Script"/>
                <a:ea typeface="Playlist Script"/>
                <a:cs typeface="Playlist Script"/>
                <a:sym typeface="Playlist Script"/>
              </a:rPr>
              <a:t>technology stack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92037" y="4237859"/>
            <a:ext cx="2657762" cy="65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3"/>
              </a:lnSpc>
            </a:pPr>
            <a:r>
              <a:rPr lang="en-US" sz="6856">
                <a:solidFill>
                  <a:srgbClr val="000000"/>
                </a:solidFill>
                <a:latin typeface="Moontime"/>
                <a:ea typeface="Moontime"/>
                <a:cs typeface="Moontime"/>
                <a:sym typeface="Moontime"/>
              </a:rPr>
              <a:t>canva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79908" y="4809348"/>
            <a:ext cx="5432957" cy="2242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b="true" sz="2035" spc="20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WE USE CANVA TO DESIGN CLEAR, INTUITIVE DASHBOARDS. TO BRING IT TO LIFE RAPIDLY WITHOUT HEAVY FRONTEND CODE,WE UTILIZE STREAMLIT(RAPID DEPLOYMENT OF PYTHON LOGIC INTO A FUNCTIONAL WEB APPLICATION).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82757" y="4861555"/>
            <a:ext cx="5431285" cy="1923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b="true" sz="2034" spc="20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PYTHON ACTS AS OUR SINGLE SOURCE OF TRUTH. CRYPTOGRAPHIC SIMULATION (USES NATIVE HASHING TO MIMIC DECENTRALIZED LEDGER IMMUTABILITY WITH ZERO DATABASE OVERHEAD).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96387" y="4271479"/>
            <a:ext cx="2654403" cy="489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</a:pPr>
            <a:r>
              <a:rPr lang="en-US" sz="5161">
                <a:solidFill>
                  <a:srgbClr val="000000"/>
                </a:solidFill>
                <a:latin typeface="Moontime"/>
                <a:ea typeface="Moontime"/>
                <a:cs typeface="Moontime"/>
                <a:sym typeface="Moontime"/>
              </a:rPr>
              <a:t>streamlit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704054" y="4167223"/>
            <a:ext cx="6137189" cy="406429"/>
          </a:xfrm>
          <a:custGeom>
            <a:avLst/>
            <a:gdLst/>
            <a:ahLst/>
            <a:cxnLst/>
            <a:rect r="r" b="b" t="t" l="l"/>
            <a:pathLst>
              <a:path h="406429" w="6137189">
                <a:moveTo>
                  <a:pt x="0" y="0"/>
                </a:moveTo>
                <a:lnTo>
                  <a:pt x="6137189" y="0"/>
                </a:lnTo>
                <a:lnTo>
                  <a:pt x="6137189" y="406429"/>
                </a:lnTo>
                <a:lnTo>
                  <a:pt x="0" y="4064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030" t="-343911" r="-19030" b="-19194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385212" y="4252429"/>
            <a:ext cx="1793109" cy="46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9"/>
              </a:lnSpc>
            </a:pPr>
            <a:r>
              <a:rPr lang="en-US" sz="4865">
                <a:solidFill>
                  <a:srgbClr val="000000"/>
                </a:solidFill>
                <a:latin typeface="Moontime"/>
                <a:ea typeface="Moontime"/>
                <a:cs typeface="Moontime"/>
                <a:sym typeface="Moontime"/>
              </a:rPr>
              <a:t>python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82888" y="4277623"/>
            <a:ext cx="2431154" cy="45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6"/>
              </a:lnSpc>
            </a:pPr>
            <a:r>
              <a:rPr lang="en-US" sz="4727">
                <a:solidFill>
                  <a:srgbClr val="000000"/>
                </a:solidFill>
                <a:latin typeface="Moontime"/>
                <a:ea typeface="Moontime"/>
                <a:cs typeface="Moontime"/>
                <a:sym typeface="Moontime"/>
              </a:rPr>
              <a:t>cryptography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90403" y="-4016085"/>
            <a:ext cx="10507194" cy="18501637"/>
          </a:xfrm>
          <a:custGeom>
            <a:avLst/>
            <a:gdLst/>
            <a:ahLst/>
            <a:cxnLst/>
            <a:rect r="r" b="b" t="t" l="l"/>
            <a:pathLst>
              <a:path h="18501637" w="10507194">
                <a:moveTo>
                  <a:pt x="0" y="0"/>
                </a:moveTo>
                <a:lnTo>
                  <a:pt x="10507194" y="0"/>
                </a:lnTo>
                <a:lnTo>
                  <a:pt x="10507194" y="18501637"/>
                </a:lnTo>
                <a:lnTo>
                  <a:pt x="0" y="18501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79" r="-2410" b="-167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64079" y="1943099"/>
            <a:ext cx="6234545" cy="4114800"/>
          </a:xfrm>
          <a:custGeom>
            <a:avLst/>
            <a:gdLst/>
            <a:ahLst/>
            <a:cxnLst/>
            <a:rect r="r" b="b" t="t" l="l"/>
            <a:pathLst>
              <a:path h="4114800" w="6234545">
                <a:moveTo>
                  <a:pt x="0" y="0"/>
                </a:moveTo>
                <a:lnTo>
                  <a:pt x="6234546" y="0"/>
                </a:lnTo>
                <a:lnTo>
                  <a:pt x="62345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98675" y="1943099"/>
            <a:ext cx="6234545" cy="4114800"/>
          </a:xfrm>
          <a:custGeom>
            <a:avLst/>
            <a:gdLst/>
            <a:ahLst/>
            <a:cxnLst/>
            <a:rect r="r" b="b" t="t" l="l"/>
            <a:pathLst>
              <a:path h="4114800" w="6234545">
                <a:moveTo>
                  <a:pt x="0" y="0"/>
                </a:moveTo>
                <a:lnTo>
                  <a:pt x="6234545" y="0"/>
                </a:lnTo>
                <a:lnTo>
                  <a:pt x="62345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26727" y="6172200"/>
            <a:ext cx="6234545" cy="4114800"/>
          </a:xfrm>
          <a:custGeom>
            <a:avLst/>
            <a:gdLst/>
            <a:ahLst/>
            <a:cxnLst/>
            <a:rect r="r" b="b" t="t" l="l"/>
            <a:pathLst>
              <a:path h="4114800" w="6234545">
                <a:moveTo>
                  <a:pt x="0" y="0"/>
                </a:moveTo>
                <a:lnTo>
                  <a:pt x="6234546" y="0"/>
                </a:lnTo>
                <a:lnTo>
                  <a:pt x="62345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01779" y="19050"/>
            <a:ext cx="14701122" cy="155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08"/>
              </a:lnSpc>
            </a:pPr>
            <a:r>
              <a:rPr lang="en-US" sz="10354">
                <a:solidFill>
                  <a:srgbClr val="000000"/>
                </a:solidFill>
                <a:latin typeface="Playlist Script"/>
                <a:ea typeface="Playlist Script"/>
                <a:cs typeface="Playlist Script"/>
                <a:sym typeface="Playlist Script"/>
              </a:rPr>
              <a:t>INNOVATION AND 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64079" y="2164845"/>
            <a:ext cx="6234545" cy="93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sz="6628">
                <a:solidFill>
                  <a:srgbClr val="000000"/>
                </a:solidFill>
                <a:latin typeface="Selima"/>
                <a:ea typeface="Selima"/>
                <a:cs typeface="Selima"/>
                <a:sym typeface="Selima"/>
              </a:rPr>
              <a:t>Rapid Feasibility: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02155" y="2164845"/>
            <a:ext cx="6275689" cy="93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sz="6628">
                <a:solidFill>
                  <a:srgbClr val="000000"/>
                </a:solidFill>
                <a:latin typeface="Selima"/>
                <a:ea typeface="Selima"/>
                <a:cs typeface="Selima"/>
                <a:sym typeface="Selima"/>
              </a:rPr>
              <a:t>Zero Operational cost: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35656" y="6162674"/>
            <a:ext cx="6416688" cy="119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9"/>
              </a:lnSpc>
            </a:pPr>
            <a:r>
              <a:rPr lang="en-US" sz="8542">
                <a:solidFill>
                  <a:srgbClr val="000000"/>
                </a:solidFill>
                <a:latin typeface="Selima"/>
                <a:ea typeface="Selima"/>
                <a:cs typeface="Selima"/>
                <a:sym typeface="Selima"/>
              </a:rPr>
              <a:t>T</a:t>
            </a:r>
            <a:r>
              <a:rPr lang="en-US" sz="8542">
                <a:solidFill>
                  <a:srgbClr val="000000"/>
                </a:solidFill>
                <a:latin typeface="Selima"/>
                <a:ea typeface="Selima"/>
                <a:cs typeface="Selima"/>
                <a:sym typeface="Selima"/>
              </a:rPr>
              <a:t>angible Value: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9941" y="3592132"/>
            <a:ext cx="6172400" cy="144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b="true" sz="2306" spc="23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FULLY FUNCTIONAL ARCHITECTURE BUILT INSIDE A LIGHTWEIGHT FRAMEWORK,MAKING IT HIGHLY ACHIEVABLE FOR ROUND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46792" y="3582607"/>
            <a:ext cx="6885922" cy="121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b="true" sz="2572" spc="257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BYPASSES EXPENSIVE CLOUD DATABASES BY USING MEMORY- EFFICIENT VALIDATION SCRIPTS.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45157" y="7827162"/>
            <a:ext cx="6107187" cy="143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2"/>
              </a:lnSpc>
            </a:pPr>
            <a:r>
              <a:rPr lang="en-US" b="true" sz="2281" spc="22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MINIMIZES INFORMATION LATENCY DOWN TO &lt;2 SECONDS, COMPLETELY ELIMINATING THE "DID WE HAVE A CLASS?" PANIC FOR STUDENTS.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049517"/>
          </a:xfrm>
          <a:custGeom>
            <a:avLst/>
            <a:gdLst/>
            <a:ahLst/>
            <a:cxnLst/>
            <a:rect r="r" b="b" t="t" l="l"/>
            <a:pathLst>
              <a:path h="10049517" w="18288000">
                <a:moveTo>
                  <a:pt x="0" y="0"/>
                </a:moveTo>
                <a:lnTo>
                  <a:pt x="18288000" y="0"/>
                </a:lnTo>
                <a:lnTo>
                  <a:pt x="18288000" y="10049517"/>
                </a:lnTo>
                <a:lnTo>
                  <a:pt x="0" y="10049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26" r="0" b="-153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8299" y="2413542"/>
            <a:ext cx="5480529" cy="3019773"/>
          </a:xfrm>
          <a:custGeom>
            <a:avLst/>
            <a:gdLst/>
            <a:ahLst/>
            <a:cxnLst/>
            <a:rect r="r" b="b" t="t" l="l"/>
            <a:pathLst>
              <a:path h="3019773" w="5480529">
                <a:moveTo>
                  <a:pt x="0" y="0"/>
                </a:moveTo>
                <a:lnTo>
                  <a:pt x="5480529" y="0"/>
                </a:lnTo>
                <a:lnTo>
                  <a:pt x="5480529" y="3019773"/>
                </a:lnTo>
                <a:lnTo>
                  <a:pt x="0" y="30197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776" t="-9290" r="0" b="-3604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73388" y="1294541"/>
            <a:ext cx="12448017" cy="956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5"/>
              </a:lnSpc>
            </a:pPr>
            <a:r>
              <a:rPr lang="en-US" sz="6422">
                <a:solidFill>
                  <a:srgbClr val="000000"/>
                </a:solidFill>
                <a:latin typeface="Playlist Script"/>
                <a:ea typeface="Playlist Script"/>
                <a:cs typeface="Playlist Script"/>
                <a:sym typeface="Playlist Script"/>
              </a:rPr>
              <a:t>Marketing Potential And Future Scope :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374820" y="2459022"/>
            <a:ext cx="5261712" cy="2974293"/>
          </a:xfrm>
          <a:custGeom>
            <a:avLst/>
            <a:gdLst/>
            <a:ahLst/>
            <a:cxnLst/>
            <a:rect r="r" b="b" t="t" l="l"/>
            <a:pathLst>
              <a:path h="2974293" w="5261712">
                <a:moveTo>
                  <a:pt x="0" y="0"/>
                </a:moveTo>
                <a:lnTo>
                  <a:pt x="5261712" y="0"/>
                </a:lnTo>
                <a:lnTo>
                  <a:pt x="5261712" y="2974293"/>
                </a:lnTo>
                <a:lnTo>
                  <a:pt x="0" y="2974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36" t="-18039" r="-3336" b="-1248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44182" y="5642865"/>
            <a:ext cx="5875088" cy="3213645"/>
          </a:xfrm>
          <a:custGeom>
            <a:avLst/>
            <a:gdLst/>
            <a:ahLst/>
            <a:cxnLst/>
            <a:rect r="r" b="b" t="t" l="l"/>
            <a:pathLst>
              <a:path h="3213645" w="5875088">
                <a:moveTo>
                  <a:pt x="0" y="0"/>
                </a:moveTo>
                <a:lnTo>
                  <a:pt x="5875087" y="0"/>
                </a:lnTo>
                <a:lnTo>
                  <a:pt x="5875087" y="3213645"/>
                </a:lnTo>
                <a:lnTo>
                  <a:pt x="0" y="3213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340" r="-2119" b="-207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441481" y="2598638"/>
            <a:ext cx="6066960" cy="2745339"/>
            <a:chOff x="0" y="0"/>
            <a:chExt cx="8089280" cy="366045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19050"/>
              <a:ext cx="6593781" cy="13084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3120" spc="312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SCALABLE TARGET MARKET: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450397"/>
              <a:ext cx="8089280" cy="22100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9"/>
                </a:lnSpc>
              </a:pPr>
              <a:r>
                <a:rPr lang="en-US" b="true" sz="2119" spc="21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ADDRESSABLE MARKET OF OVER 40,000+ HIGHER EDUCATION INSTITUTIONS EXPERIENCING IDENTICAL COMMUNICATION FRAGMENTATION.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12669" y="2677479"/>
            <a:ext cx="5120383" cy="2704158"/>
            <a:chOff x="0" y="0"/>
            <a:chExt cx="6827178" cy="3605545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9050"/>
              <a:ext cx="6404270" cy="13084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3120" spc="312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PLUG-AND-PLAY ARCHITECTURE: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395489"/>
              <a:ext cx="6827178" cy="22100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9"/>
                </a:lnSpc>
              </a:pPr>
              <a:r>
                <a:rPr lang="en-US" b="true" sz="2119" spc="21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BUILT AS A MODULAR MIDDLEWARE COMPONENT THAT EASILY INTEGRATES WITH ANY EXISTING COLLEGE WEB PORTAL VIA WEBHOOKS.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325578" y="5861940"/>
            <a:ext cx="5693691" cy="2743334"/>
            <a:chOff x="0" y="0"/>
            <a:chExt cx="7591588" cy="3657779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9050"/>
              <a:ext cx="6328576" cy="1283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24"/>
                </a:lnSpc>
              </a:pPr>
              <a:r>
                <a:rPr lang="en-US" sz="3059" spc="305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PHASE 2 EVALUATION: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461864"/>
              <a:ext cx="7591588" cy="2195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b="true" sz="2106" spc="210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TRANSITIONING THE LOCAL CRYPTOGRAPHIC SIMULATION INTO LIVE DECENTRALIZED PROTOCOL ON A WEB3 TESTNET(E.G. POLYGON OR SOLANA)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DAHTF-rAE-w</dc:identifier>
  <dcterms:modified xsi:type="dcterms:W3CDTF">2011-08-01T06:04:30Z</dcterms:modified>
  <cp:revision>1</cp:revision>
  <dc:title>lecturify</dc:title>
</cp:coreProperties>
</file>